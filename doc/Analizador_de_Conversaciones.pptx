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0" r:id="rId3"/>
    <p:sldId id="257" r:id="rId4"/>
    <p:sldId id="271" r:id="rId5"/>
    <p:sldId id="272" r:id="rId6"/>
    <p:sldId id="273" r:id="rId7"/>
    <p:sldId id="258" r:id="rId8"/>
    <p:sldId id="259" r:id="rId9"/>
    <p:sldId id="260" r:id="rId10"/>
    <p:sldId id="267" r:id="rId11"/>
    <p:sldId id="269" r:id="rId12"/>
    <p:sldId id="268" r:id="rId13"/>
    <p:sldId id="262" r:id="rId14"/>
    <p:sldId id="263" r:id="rId15"/>
    <p:sldId id="265" r:id="rId16"/>
    <p:sldId id="266" r:id="rId17"/>
    <p:sldId id="264" r:id="rId18"/>
    <p:sldId id="261" r:id="rId1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4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839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Mi nombre es César Villarreal y voy a presentarles, en seis diapositivas, los resultados del proyecto final de Minería de Textos. El trabajo consiste en aplicar procesamiento de lenguaje natural a un corpus de chats de atención al cliente en un contexto comercial B2B. El objetivo concreto: transformar miles de mensajes de texto crudo —intercambios entre vendedoras y clientes— en métricas cuantificables de intención, temática, sentimiento y emoción, de manera que la dirección del negocio pueda tomar decisiones operativas basadas en evidencia agregada y no en intuición. Voy a recorrer la arquitectura del pipeline, los hallazgos léxicos y temáticos, el dashboard de sentimiento y tono, y cerrar con las recomendaciones accionables.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arquitectura del análisis. El texto crudo de los chats entra por la izquierda y atraviesa cuatro módulos secuenciales que producen distintos artefactos. Primero, vectorización: se construyen las matrices de Bag-of-Words y TF-IDF que representan cada conversación como un vector numérico, y se extrae un diccionario de dominio con los términos más característicos del corpus. Segundo, detección de temas: aplicando clustering sobre las representaciones vectoriales se identifican las intenciones principales de cada chat. Tercero, análisis de sentimiento: cada mensaje se clasifica como positivo, neutral o negativo, y luego esos resultados se agregan por sesión y por autor. Cuarto, análisis de tono: un modelo emocional descompone cada mensaje en seis dimensiones —alegría, sorpresa, miedo, tristeza, asco e ira— entregando un perfil afectivo mucho más rico que la polaridad simple. Cada módulo produce un CSV reutilizable, lo que permite reproducir cualquier etapa de forma aislada.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Empiezo por el descubrimiento léxico. El diccionario de dominio surge de las palabras con mayor frecuencia y score discriminante en el corpus. Lo que ven en la diapositiva es la lectura clave: las cinco palabras de mayor impacto son puramente transaccionales —pago, pedido, factura, cotización y orden— con scores muy por encima del resto del vocabulario. Esto no es trivial: nos dice que el canal de WhatsApp no se usa principalmente para conversación general, soporte emocional o relacionamiento; se usa para cerrar ventas y dar seguimiento administrativo a operaciones. Es un canal operativo, no relacional. Esa caracterización del canal es la base sobre la cual interpretamos todo lo demás: el sentimiento neutral dominante, los clústeres temáticos y las recomendaciones finales se entienden en este contexto transaccional.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clústeres temáticos confirman y refinan la lectura anterior. El clustering sobre las representaciones vectoriales agrupa de manera estable las conversaciones en cuatro intenciones principales. Cotización y presupuesto, que es la entrada típica del cliente: pedir precio antes de comprar. Gestión de pedidos y entregas, que cubre el seguimiento operativo de órdenes ya colocadas. Facturación y documentos, que concentra preguntas administrativas —facturas, complementos, datos fiscales. Y confirmación de estado, que son los chats más breves donde el cliente sólo verifica un avance. La distribución es relevante: facturación, que probablemente parecía marginal antes del análisis, resulta ser un volumen significativo. Esa cifra es la que va a justificar la primera recomendación de automatización en la última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sentimiento y emoción la conclusión está consistente con el descubrimiento léxico. La gráfica de polaridad, leyendo a nivel de mensaje individual, muestra una dominancia muy marcada de mensajes neutrales —alrededor del setenta por ciento— con picos de positivo concentrados en saludos y agradecimientos, y una porción menor de negativo asociada principalmente a fricciones en facturación y entregas. Al cambiar el lente y leer por autor, el patrón se asimetriza: las vendedoras son sistemáticamente más positivas que los clientes, lo cual es esperable pero cuantifica la brecha. A la derecha muestro el desglose emocional del modelo de tono: más allá de la polaridad, vemos que la alegría domina entre las emociones detectables, seguida por sorpresa, mientras que ira, tristeza y asco —las emociones operativamente más relevantes— son raras pero, cuando aparecen, vale la pena escalarlas. Esa visión multi-dimensional es lo que permite detectar fricciones que un sentimiento binario pasaría por alto.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Cierro con tres recomendaciones concretas. Primero: dado el volumen de la categoría de facturación y la naturaleza repetitiva de sus preguntas, hay un caso sólido para construir un bot específico que atienda solicitudes de factura, complementos y datos fiscales sin intervención humana, liberando tiempo de las vendedoras para tareas comerciales. Segundo: los pocos mensajes negativos que detectamos tienen alto valor diagnóstico; recomiendo configurar alertas automáticas que escalen a la dirección cualquier chat con polaridad negativa o con señales de ira y tristeza, para intervenir antes de que la fricción escale. Y tercero: institucionalizar el dashboard como herramienta de monitoreo semanal, en lugar de análisis puntual. La metodología y el código quedan documentados y son extrapolables a otras PyMEs B2B que operen principalmente sobre WhatsApp. Quedo a sus comentarios y preguntas. Muchas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4EF">
              <a:alpha val="9804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047750" y="952500"/>
            <a:ext cx="968778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b="1" i="1" kern="0" spc="84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ITESO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47750" y="1402080"/>
            <a:ext cx="107269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88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TECNOLÓGICO DE ESTUDIOS SUPERIORES DE OCCIDENTE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999675" y="952500"/>
            <a:ext cx="5240576" cy="1213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1800" kern="0" spc="216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MAESTRÍA · MINERÍA DE TEXTOS </a:t>
            </a:r>
          </a:p>
          <a:p>
            <a:pPr marL="0" indent="0" algn="r">
              <a:lnSpc>
                <a:spcPct val="170000"/>
              </a:lnSpc>
              <a:buNone/>
            </a:pPr>
            <a:r>
              <a:rPr lang="en-US" sz="1800" b="1" kern="0" spc="2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VÍCTOR HUGO ZALDÍVAR CARRILLO </a:t>
            </a:r>
            <a:r>
              <a:rPr lang="en-US" sz="1800" kern="0" spc="216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DE </a:t>
            </a:r>
            <a:r>
              <a:rPr lang="en-US" kern="0" spc="216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</a:t>
            </a:r>
            <a:r>
              <a:rPr lang="en-US" sz="1800" kern="0" spc="216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2026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7750" y="2608421"/>
            <a:ext cx="2446655" cy="461010"/>
          </a:xfrm>
          <a:prstGeom prst="roundRect">
            <a:avLst>
              <a:gd name="adj" fmla="val 4132"/>
            </a:avLst>
          </a:prstGeom>
          <a:solidFill>
            <a:srgbClr val="E8DCC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1162050" y="2665571"/>
            <a:ext cx="229425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kern="0" spc="78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 FINAL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665855" y="2665571"/>
            <a:ext cx="30908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kern="0" spc="312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070190" y="2665571"/>
            <a:ext cx="2161797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kern="0" spc="312" dirty="0">
                <a:solidFill>
                  <a:srgbClr val="D14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47750" y="3069431"/>
            <a:ext cx="14716125" cy="3439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5994"/>
              </a:lnSpc>
              <a:buNone/>
            </a:pPr>
            <a:r>
              <a:rPr lang="en-US" sz="9300" kern="0" spc="-233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Analizador</a:t>
            </a:r>
            <a:r>
              <a:rPr lang="en-US" sz="9300" kern="0" spc="-233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</a:t>
            </a:r>
            <a:r>
              <a:rPr lang="en-US" sz="9300" kern="0" spc="-233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Conversaciones</a:t>
            </a:r>
            <a:r>
              <a:rPr lang="en-US" sz="9300" kern="0" spc="-233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Servicio al </a:t>
            </a:r>
            <a:r>
              <a:rPr lang="en-US" sz="9300" kern="0" spc="-233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</a:t>
            </a:r>
            <a:r>
              <a:rPr lang="en-US" sz="9300" kern="0" spc="-233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(Post-Venta) de </a:t>
            </a:r>
            <a:r>
              <a:rPr lang="en-US" sz="9300" i="1" kern="0" spc="-233" dirty="0">
                <a:solidFill>
                  <a:srgbClr val="D14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</a:t>
            </a:r>
            <a:endParaRPr lang="en-US" sz="9300" dirty="0"/>
          </a:p>
        </p:txBody>
      </p:sp>
      <p:sp>
        <p:nvSpPr>
          <p:cNvPr id="11" name="Text 9"/>
          <p:cNvSpPr/>
          <p:nvPr/>
        </p:nvSpPr>
        <p:spPr>
          <a:xfrm>
            <a:off x="1047750" y="7125891"/>
            <a:ext cx="1518636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i="1" dirty="0">
                <a:solidFill>
                  <a:srgbClr val="2B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miles de mensajes B2B a métricas cuantificables de intención, tema, sentimiento y tono.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1047750" y="7699534"/>
            <a:ext cx="5377497" cy="560070"/>
          </a:xfrm>
          <a:prstGeom prst="roundRect">
            <a:avLst>
              <a:gd name="adj" fmla="val 3401"/>
            </a:avLst>
          </a:prstGeom>
          <a:solidFill>
            <a:srgbClr val="E8DCC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1276350" y="7832884"/>
            <a:ext cx="5081622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kern="0" spc="264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APLICADO · ATENCIÓN AL CLIENTE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047750" y="8740140"/>
            <a:ext cx="16192500" cy="190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1047750" y="9079230"/>
            <a:ext cx="6308476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kern="0" spc="264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VECTORIZACIÓN · TEMAS · SENTIMIENTO · TONO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561536" y="9025890"/>
            <a:ext cx="378907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8A8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César Villarreal Hernández · 707560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>
            <a:extLst>
              <a:ext uri="{FF2B5EF4-FFF2-40B4-BE49-F238E27FC236}">
                <a16:creationId xmlns:a16="http://schemas.microsoft.com/office/drawing/2014/main" id="{2ECF0B9A-236A-7DBA-B7FD-FA483E662485}"/>
              </a:ext>
            </a:extLst>
          </p:cNvPr>
          <p:cNvSpPr/>
          <p:nvPr/>
        </p:nvSpPr>
        <p:spPr>
          <a:xfrm>
            <a:off x="590550" y="975042"/>
            <a:ext cx="16089630" cy="857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996"/>
              </a:lnSpc>
              <a:buNone/>
            </a:pPr>
            <a:r>
              <a:rPr lang="en-US" sz="5700" kern="0" spc="-85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Preguntas</a:t>
            </a:r>
            <a:r>
              <a:rPr lang="en-US" sz="5700" kern="0" spc="-8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</a:t>
            </a:r>
            <a:r>
              <a:rPr lang="en-US" sz="5700" kern="0" spc="-85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Investigación</a:t>
            </a:r>
            <a:endParaRPr lang="en-US" sz="57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9A1E89C-AD8D-1A1F-6742-FE0479950B3D}"/>
              </a:ext>
            </a:extLst>
          </p:cNvPr>
          <p:cNvSpPr txBox="1"/>
          <p:nvPr/>
        </p:nvSpPr>
        <p:spPr>
          <a:xfrm>
            <a:off x="734289" y="2454716"/>
            <a:ext cx="133280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¿Es posible mejorar el servicio al cliente al identifica problemas que ocurren en las conversaciones de servicio al cliente a partir del análisis de sentimiento y tono de los mensajes de WhatsApp?</a:t>
            </a:r>
            <a:endParaRPr lang="es-MX" sz="3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10D7A8D-E134-04DE-540F-AF3AEC60ECAD}"/>
              </a:ext>
            </a:extLst>
          </p:cNvPr>
          <p:cNvSpPr txBox="1"/>
          <p:nvPr/>
        </p:nvSpPr>
        <p:spPr>
          <a:xfrm>
            <a:off x="828673" y="4853923"/>
            <a:ext cx="131393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¿Es posible construir un modelo de minería de texto que clasifique cada conversación a partir de los </a:t>
            </a:r>
            <a:r>
              <a:rPr lang="es-MX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unigramas</a:t>
            </a:r>
            <a:r>
              <a:rPr lang="es-MX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y </a:t>
            </a:r>
            <a:r>
              <a:rPr lang="es-MX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bigramas</a:t>
            </a:r>
            <a:r>
              <a:rPr lang="es-MX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utilizados en las conversaciones?</a:t>
            </a:r>
            <a:endParaRPr lang="es-MX" sz="3200" dirty="0"/>
          </a:p>
        </p:txBody>
      </p:sp>
    </p:spTree>
    <p:extLst>
      <p:ext uri="{BB962C8B-B14F-4D97-AF65-F5344CB8AC3E}">
        <p14:creationId xmlns:p14="http://schemas.microsoft.com/office/powerpoint/2010/main" val="3874808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52500"/>
            <a:ext cx="545465" cy="461010"/>
          </a:xfrm>
          <a:prstGeom prst="roundRect">
            <a:avLst>
              <a:gd name="adj" fmla="val 4132"/>
            </a:avLst>
          </a:prstGeom>
          <a:solidFill>
            <a:srgbClr val="1F2D4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62050" y="1009650"/>
            <a:ext cx="39306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kern="0" spc="78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764665" y="1009650"/>
            <a:ext cx="30908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kern="0" spc="312" dirty="0">
                <a:solidFill>
                  <a:srgbClr val="4A5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169000" y="1011555"/>
            <a:ext cx="331866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kern="0" spc="312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1832610"/>
            <a:ext cx="16089630" cy="857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996"/>
              </a:lnSpc>
              <a:buNone/>
            </a:pPr>
            <a:r>
              <a:rPr lang="en-US" sz="5700" kern="0" spc="-85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texto crudo al </a:t>
            </a:r>
            <a:r>
              <a:rPr lang="en-US" sz="5700" i="1" kern="0" spc="-85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 visual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1047750" y="2899728"/>
            <a:ext cx="14716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Ocho etapas en tres fases. Cada nodo produce un artefacto reutilizable.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47750" y="4381818"/>
            <a:ext cx="3868420" cy="19050"/>
          </a:xfrm>
          <a:prstGeom prst="rect">
            <a:avLst/>
          </a:prstGeom>
          <a:solidFill>
            <a:srgbClr val="1F2D4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1047750" y="3930332"/>
            <a:ext cx="519589" cy="316230"/>
          </a:xfrm>
          <a:prstGeom prst="roundRect">
            <a:avLst>
              <a:gd name="adj" fmla="val 6024"/>
            </a:avLst>
          </a:prstGeom>
          <a:solidFill>
            <a:srgbClr val="1F2D4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143000" y="3968432"/>
            <a:ext cx="40528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54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F·1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700689" y="3931285"/>
            <a:ext cx="263578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9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4534217"/>
            <a:ext cx="1674812" cy="3436302"/>
          </a:xfrm>
          <a:prstGeom prst="roundRect">
            <a:avLst>
              <a:gd name="adj" fmla="val 4550"/>
            </a:avLst>
          </a:prstGeom>
          <a:solidFill>
            <a:srgbClr val="182840"/>
          </a:solidFill>
          <a:ln w="9525">
            <a:solidFill>
              <a:srgbClr val="24334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1228725" y="4753292"/>
            <a:ext cx="13890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kern="0" spc="12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28725" y="5172392"/>
            <a:ext cx="552450" cy="552450"/>
          </a:xfrm>
          <a:prstGeom prst="roundRect">
            <a:avLst>
              <a:gd name="adj" fmla="val 17241"/>
            </a:avLst>
          </a:prstGeom>
          <a:solidFill>
            <a:srgbClr val="818CF8">
              <a:alpha val="10000"/>
            </a:srgbClr>
          </a:solidFill>
          <a:ln w="9525">
            <a:solidFill>
              <a:srgbClr val="818CF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5296217"/>
            <a:ext cx="304800" cy="3048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28725" y="5877242"/>
            <a:ext cx="1389062" cy="550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14"/>
              </a:lnSpc>
              <a:buNone/>
            </a:pPr>
            <a:r>
              <a:rPr lang="en-US" sz="1800" kern="0" spc="-18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Construcción del corpus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28725" y="6503670"/>
            <a:ext cx="1389062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Extracción de chats y mensajes desde los dispositivos.</a:t>
            </a:r>
            <a:endParaRPr lang="en-US" sz="1425" dirty="0"/>
          </a:p>
        </p:txBody>
      </p:sp>
      <p:sp>
        <p:nvSpPr>
          <p:cNvPr id="18" name="Shape 15"/>
          <p:cNvSpPr/>
          <p:nvPr/>
        </p:nvSpPr>
        <p:spPr>
          <a:xfrm>
            <a:off x="2855912" y="4534217"/>
            <a:ext cx="2060258" cy="3436302"/>
          </a:xfrm>
          <a:prstGeom prst="roundRect">
            <a:avLst>
              <a:gd name="adj" fmla="val 3699"/>
            </a:avLst>
          </a:prstGeom>
          <a:solidFill>
            <a:srgbClr val="182840"/>
          </a:solidFill>
          <a:ln w="9525">
            <a:solidFill>
              <a:srgbClr val="24334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3036887" y="4753292"/>
            <a:ext cx="17745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kern="0" spc="12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3036887" y="5172392"/>
            <a:ext cx="552450" cy="552450"/>
          </a:xfrm>
          <a:prstGeom prst="roundRect">
            <a:avLst>
              <a:gd name="adj" fmla="val 17241"/>
            </a:avLst>
          </a:prstGeom>
          <a:solidFill>
            <a:srgbClr val="818CF8">
              <a:alpha val="10000"/>
            </a:srgbClr>
          </a:solidFill>
          <a:ln w="9525">
            <a:solidFill>
              <a:srgbClr val="818CF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0712" y="5296217"/>
            <a:ext cx="304800" cy="3048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941079" y="5924097"/>
            <a:ext cx="1974931" cy="334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14"/>
              </a:lnSpc>
              <a:buNone/>
            </a:pPr>
            <a:r>
              <a:rPr lang="en-US" sz="1800" kern="0" spc="-18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Preprocesamiento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3036887" y="6757035"/>
            <a:ext cx="1774508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Limpieza, normalización y tokenización del texto.</a:t>
            </a:r>
            <a:endParaRPr lang="en-US" sz="1425" dirty="0"/>
          </a:p>
        </p:txBody>
      </p:sp>
      <p:sp>
        <p:nvSpPr>
          <p:cNvPr id="24" name="Shape 20"/>
          <p:cNvSpPr/>
          <p:nvPr/>
        </p:nvSpPr>
        <p:spPr>
          <a:xfrm>
            <a:off x="5182870" y="4381818"/>
            <a:ext cx="9671209" cy="19050"/>
          </a:xfrm>
          <a:prstGeom prst="rect">
            <a:avLst/>
          </a:prstGeom>
          <a:solidFill>
            <a:srgbClr val="1F2D4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Shape 21"/>
          <p:cNvSpPr/>
          <p:nvPr/>
        </p:nvSpPr>
        <p:spPr>
          <a:xfrm>
            <a:off x="5182870" y="3930332"/>
            <a:ext cx="519589" cy="316230"/>
          </a:xfrm>
          <a:prstGeom prst="roundRect">
            <a:avLst>
              <a:gd name="adj" fmla="val 6024"/>
            </a:avLst>
          </a:prstGeom>
          <a:solidFill>
            <a:srgbClr val="2A251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2"/>
          <p:cNvSpPr/>
          <p:nvPr/>
        </p:nvSpPr>
        <p:spPr>
          <a:xfrm>
            <a:off x="5278120" y="3968432"/>
            <a:ext cx="40528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54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F·2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5835809" y="3931285"/>
            <a:ext cx="174609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96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5182870" y="4534217"/>
            <a:ext cx="1827530" cy="3436302"/>
          </a:xfrm>
          <a:prstGeom prst="roundRect">
            <a:avLst>
              <a:gd name="adj" fmla="val 4170"/>
            </a:avLst>
          </a:prstGeom>
          <a:solidFill>
            <a:srgbClr val="182840"/>
          </a:solidFill>
          <a:ln w="9525">
            <a:solidFill>
              <a:srgbClr val="24334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5"/>
          <p:cNvSpPr/>
          <p:nvPr/>
        </p:nvSpPr>
        <p:spPr>
          <a:xfrm>
            <a:off x="5363845" y="4753292"/>
            <a:ext cx="15417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kern="0" spc="12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5363845" y="5172392"/>
            <a:ext cx="552450" cy="552450"/>
          </a:xfrm>
          <a:prstGeom prst="roundRect">
            <a:avLst>
              <a:gd name="adj" fmla="val 17241"/>
            </a:avLst>
          </a:prstGeom>
          <a:solidFill>
            <a:srgbClr val="FBBF24">
              <a:alpha val="10000"/>
            </a:srgbClr>
          </a:solidFill>
          <a:ln w="9525">
            <a:solidFill>
              <a:srgbClr val="FBBF2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7670" y="5296217"/>
            <a:ext cx="304800" cy="3048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363845" y="5877242"/>
            <a:ext cx="1541780" cy="294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14"/>
              </a:lnSpc>
              <a:buNone/>
            </a:pPr>
            <a:r>
              <a:rPr lang="en-US" sz="1800" kern="0" spc="-18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Vectorización</a:t>
            </a:r>
            <a:endParaRPr lang="en-US" sz="1800" dirty="0"/>
          </a:p>
        </p:txBody>
      </p:sp>
      <p:sp>
        <p:nvSpPr>
          <p:cNvPr id="33" name="Text 28"/>
          <p:cNvSpPr/>
          <p:nvPr/>
        </p:nvSpPr>
        <p:spPr>
          <a:xfrm>
            <a:off x="5278120" y="6438106"/>
            <a:ext cx="1541780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Matrices BoW &amp; TF‑IDF con bigramas.</a:t>
            </a:r>
            <a:endParaRPr lang="en-US" sz="1425" dirty="0"/>
          </a:p>
        </p:txBody>
      </p:sp>
      <p:sp>
        <p:nvSpPr>
          <p:cNvPr id="34" name="Shape 29"/>
          <p:cNvSpPr/>
          <p:nvPr/>
        </p:nvSpPr>
        <p:spPr>
          <a:xfrm>
            <a:off x="7143750" y="4534217"/>
            <a:ext cx="1827530" cy="3436302"/>
          </a:xfrm>
          <a:prstGeom prst="roundRect">
            <a:avLst>
              <a:gd name="adj" fmla="val 4170"/>
            </a:avLst>
          </a:prstGeom>
          <a:solidFill>
            <a:srgbClr val="182840"/>
          </a:solidFill>
          <a:ln w="9525">
            <a:solidFill>
              <a:srgbClr val="24334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0"/>
          <p:cNvSpPr/>
          <p:nvPr/>
        </p:nvSpPr>
        <p:spPr>
          <a:xfrm>
            <a:off x="7324725" y="4753292"/>
            <a:ext cx="15417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kern="0" spc="12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36" name="Shape 31"/>
          <p:cNvSpPr/>
          <p:nvPr/>
        </p:nvSpPr>
        <p:spPr>
          <a:xfrm>
            <a:off x="7324725" y="5172392"/>
            <a:ext cx="552450" cy="552450"/>
          </a:xfrm>
          <a:prstGeom prst="roundRect">
            <a:avLst>
              <a:gd name="adj" fmla="val 17241"/>
            </a:avLst>
          </a:prstGeom>
          <a:solidFill>
            <a:srgbClr val="FBBF24">
              <a:alpha val="10000"/>
            </a:srgbClr>
          </a:solidFill>
          <a:ln w="9525">
            <a:solidFill>
              <a:srgbClr val="FBBF2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8550" y="5296217"/>
            <a:ext cx="304800" cy="30480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324725" y="5877242"/>
            <a:ext cx="1541780" cy="550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14"/>
              </a:lnSpc>
              <a:buNone/>
            </a:pPr>
            <a:r>
              <a:rPr lang="en-US" sz="1800" kern="0" spc="-18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Diccionario de dominio</a:t>
            </a:r>
            <a:endParaRPr lang="en-US" sz="1800" dirty="0"/>
          </a:p>
        </p:txBody>
      </p:sp>
      <p:sp>
        <p:nvSpPr>
          <p:cNvPr id="39" name="Text 33"/>
          <p:cNvSpPr/>
          <p:nvPr/>
        </p:nvSpPr>
        <p:spPr>
          <a:xfrm>
            <a:off x="7324725" y="7010400"/>
            <a:ext cx="1541780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Léxico clave del negocio extraído del corpus.</a:t>
            </a:r>
            <a:endParaRPr lang="en-US" sz="1425" dirty="0"/>
          </a:p>
        </p:txBody>
      </p:sp>
      <p:sp>
        <p:nvSpPr>
          <p:cNvPr id="40" name="Shape 34"/>
          <p:cNvSpPr/>
          <p:nvPr/>
        </p:nvSpPr>
        <p:spPr>
          <a:xfrm>
            <a:off x="9104630" y="4534217"/>
            <a:ext cx="1827530" cy="3436302"/>
          </a:xfrm>
          <a:prstGeom prst="roundRect">
            <a:avLst>
              <a:gd name="adj" fmla="val 4170"/>
            </a:avLst>
          </a:prstGeom>
          <a:solidFill>
            <a:srgbClr val="182840"/>
          </a:solidFill>
          <a:ln w="9525">
            <a:solidFill>
              <a:srgbClr val="24334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5"/>
          <p:cNvSpPr/>
          <p:nvPr/>
        </p:nvSpPr>
        <p:spPr>
          <a:xfrm>
            <a:off x="9285605" y="4753292"/>
            <a:ext cx="15417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kern="0" spc="12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42" name="Shape 36"/>
          <p:cNvSpPr/>
          <p:nvPr/>
        </p:nvSpPr>
        <p:spPr>
          <a:xfrm>
            <a:off x="9285605" y="5172392"/>
            <a:ext cx="552450" cy="552450"/>
          </a:xfrm>
          <a:prstGeom prst="roundRect">
            <a:avLst>
              <a:gd name="adj" fmla="val 17241"/>
            </a:avLst>
          </a:prstGeom>
          <a:solidFill>
            <a:srgbClr val="FBBF24">
              <a:alpha val="10000"/>
            </a:srgbClr>
          </a:solidFill>
          <a:ln w="9525">
            <a:solidFill>
              <a:srgbClr val="FBBF2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9430" y="5296217"/>
            <a:ext cx="304800" cy="30480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9285605" y="5877242"/>
            <a:ext cx="1541780" cy="550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14"/>
              </a:lnSpc>
              <a:buNone/>
            </a:pPr>
            <a:r>
              <a:rPr lang="en-US" sz="1800" kern="0" spc="-18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de sentimiento</a:t>
            </a:r>
            <a:endParaRPr lang="en-US" sz="1800" dirty="0"/>
          </a:p>
        </p:txBody>
      </p:sp>
      <p:sp>
        <p:nvSpPr>
          <p:cNvPr id="45" name="Text 38"/>
          <p:cNvSpPr/>
          <p:nvPr/>
        </p:nvSpPr>
        <p:spPr>
          <a:xfrm>
            <a:off x="9285605" y="7010400"/>
            <a:ext cx="1541780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Polaridad: positivo · neutral · negativo.</a:t>
            </a:r>
            <a:endParaRPr lang="en-US" sz="1425" dirty="0"/>
          </a:p>
        </p:txBody>
      </p:sp>
      <p:sp>
        <p:nvSpPr>
          <p:cNvPr id="46" name="Shape 39"/>
          <p:cNvSpPr/>
          <p:nvPr/>
        </p:nvSpPr>
        <p:spPr>
          <a:xfrm>
            <a:off x="11065511" y="4534217"/>
            <a:ext cx="1827530" cy="3436302"/>
          </a:xfrm>
          <a:prstGeom prst="roundRect">
            <a:avLst>
              <a:gd name="adj" fmla="val 4170"/>
            </a:avLst>
          </a:prstGeom>
          <a:solidFill>
            <a:srgbClr val="182840"/>
          </a:solidFill>
          <a:ln w="9525">
            <a:solidFill>
              <a:srgbClr val="24334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0"/>
          <p:cNvSpPr/>
          <p:nvPr/>
        </p:nvSpPr>
        <p:spPr>
          <a:xfrm>
            <a:off x="11246486" y="4753292"/>
            <a:ext cx="15417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kern="0" spc="12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48" name="Shape 41"/>
          <p:cNvSpPr/>
          <p:nvPr/>
        </p:nvSpPr>
        <p:spPr>
          <a:xfrm>
            <a:off x="11246486" y="5172392"/>
            <a:ext cx="552450" cy="552450"/>
          </a:xfrm>
          <a:prstGeom prst="roundRect">
            <a:avLst>
              <a:gd name="adj" fmla="val 17241"/>
            </a:avLst>
          </a:prstGeom>
          <a:solidFill>
            <a:srgbClr val="FBBF24">
              <a:alpha val="10000"/>
            </a:srgbClr>
          </a:solidFill>
          <a:ln w="9525">
            <a:solidFill>
              <a:srgbClr val="FBBF2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70311" y="5296217"/>
            <a:ext cx="304800" cy="30480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11246486" y="5877242"/>
            <a:ext cx="1541780" cy="550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14"/>
              </a:lnSpc>
              <a:buNone/>
            </a:pPr>
            <a:r>
              <a:rPr lang="en-US" sz="1800" kern="0" spc="-18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Evolución de tono</a:t>
            </a:r>
            <a:endParaRPr lang="en-US" sz="1800" dirty="0"/>
          </a:p>
        </p:txBody>
      </p:sp>
      <p:sp>
        <p:nvSpPr>
          <p:cNvPr id="51" name="Text 43"/>
          <p:cNvSpPr/>
          <p:nvPr/>
        </p:nvSpPr>
        <p:spPr>
          <a:xfrm>
            <a:off x="11246486" y="6757035"/>
            <a:ext cx="1779904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Emociones profundas: 6 dimensiones afectivas.</a:t>
            </a:r>
            <a:endParaRPr lang="en-US" sz="1425" dirty="0"/>
          </a:p>
        </p:txBody>
      </p:sp>
      <p:sp>
        <p:nvSpPr>
          <p:cNvPr id="52" name="Shape 44"/>
          <p:cNvSpPr/>
          <p:nvPr/>
        </p:nvSpPr>
        <p:spPr>
          <a:xfrm>
            <a:off x="13026390" y="4534217"/>
            <a:ext cx="1827530" cy="3436302"/>
          </a:xfrm>
          <a:prstGeom prst="roundRect">
            <a:avLst>
              <a:gd name="adj" fmla="val 4170"/>
            </a:avLst>
          </a:prstGeom>
          <a:solidFill>
            <a:srgbClr val="182840"/>
          </a:solidFill>
          <a:ln w="9525">
            <a:solidFill>
              <a:srgbClr val="24334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45"/>
          <p:cNvSpPr/>
          <p:nvPr/>
        </p:nvSpPr>
        <p:spPr>
          <a:xfrm>
            <a:off x="13207365" y="4753292"/>
            <a:ext cx="15417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kern="0" spc="12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" dirty="0"/>
          </a:p>
        </p:txBody>
      </p:sp>
      <p:sp>
        <p:nvSpPr>
          <p:cNvPr id="54" name="Shape 46"/>
          <p:cNvSpPr/>
          <p:nvPr/>
        </p:nvSpPr>
        <p:spPr>
          <a:xfrm>
            <a:off x="13207365" y="5172392"/>
            <a:ext cx="552450" cy="552450"/>
          </a:xfrm>
          <a:prstGeom prst="roundRect">
            <a:avLst>
              <a:gd name="adj" fmla="val 17241"/>
            </a:avLst>
          </a:prstGeom>
          <a:solidFill>
            <a:srgbClr val="FBBF24">
              <a:alpha val="10000"/>
            </a:srgbClr>
          </a:solidFill>
          <a:ln w="9525">
            <a:solidFill>
              <a:srgbClr val="FBBF2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31190" y="5296217"/>
            <a:ext cx="304800" cy="304800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13207365" y="5877242"/>
            <a:ext cx="1541780" cy="550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14"/>
              </a:lnSpc>
              <a:buNone/>
            </a:pPr>
            <a:r>
              <a:rPr lang="en-US" sz="1800" kern="0" spc="-18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Clasificación automática</a:t>
            </a:r>
            <a:endParaRPr lang="en-US" sz="1800" dirty="0"/>
          </a:p>
        </p:txBody>
      </p:sp>
      <p:sp>
        <p:nvSpPr>
          <p:cNvPr id="57" name="Text 48"/>
          <p:cNvSpPr/>
          <p:nvPr/>
        </p:nvSpPr>
        <p:spPr>
          <a:xfrm>
            <a:off x="13207365" y="6757035"/>
            <a:ext cx="1779904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por intención: pedidos, facturación…</a:t>
            </a:r>
            <a:endParaRPr lang="en-US" sz="1425" dirty="0"/>
          </a:p>
        </p:txBody>
      </p:sp>
      <p:sp>
        <p:nvSpPr>
          <p:cNvPr id="58" name="Shape 49"/>
          <p:cNvSpPr/>
          <p:nvPr/>
        </p:nvSpPr>
        <p:spPr>
          <a:xfrm>
            <a:off x="15120779" y="4381818"/>
            <a:ext cx="2119471" cy="19050"/>
          </a:xfrm>
          <a:prstGeom prst="rect">
            <a:avLst/>
          </a:prstGeom>
          <a:solidFill>
            <a:srgbClr val="1F2D4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9" name="Shape 50"/>
          <p:cNvSpPr/>
          <p:nvPr/>
        </p:nvSpPr>
        <p:spPr>
          <a:xfrm>
            <a:off x="15120779" y="3930332"/>
            <a:ext cx="519589" cy="316230"/>
          </a:xfrm>
          <a:prstGeom prst="roundRect">
            <a:avLst>
              <a:gd name="adj" fmla="val 6024"/>
            </a:avLst>
          </a:prstGeom>
          <a:solidFill>
            <a:srgbClr val="2B141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0" name="Text 51"/>
          <p:cNvSpPr/>
          <p:nvPr/>
        </p:nvSpPr>
        <p:spPr>
          <a:xfrm>
            <a:off x="15216029" y="3968432"/>
            <a:ext cx="40528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54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F·3</a:t>
            </a:r>
            <a:endParaRPr lang="en-US" sz="1350" dirty="0"/>
          </a:p>
        </p:txBody>
      </p:sp>
      <p:sp>
        <p:nvSpPr>
          <p:cNvPr id="61" name="Text 52"/>
          <p:cNvSpPr/>
          <p:nvPr/>
        </p:nvSpPr>
        <p:spPr>
          <a:xfrm>
            <a:off x="15773717" y="3931285"/>
            <a:ext cx="154273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kern="0" spc="396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800" dirty="0"/>
          </a:p>
        </p:txBody>
      </p:sp>
      <p:sp>
        <p:nvSpPr>
          <p:cNvPr id="62" name="Shape 53"/>
          <p:cNvSpPr/>
          <p:nvPr/>
        </p:nvSpPr>
        <p:spPr>
          <a:xfrm>
            <a:off x="15120779" y="4534217"/>
            <a:ext cx="2119471" cy="3436302"/>
          </a:xfrm>
          <a:prstGeom prst="roundRect">
            <a:avLst>
              <a:gd name="adj" fmla="val 3595"/>
            </a:avLst>
          </a:prstGeom>
          <a:solidFill>
            <a:srgbClr val="2B1414"/>
          </a:solidFill>
          <a:ln w="9525">
            <a:solidFill>
              <a:srgbClr val="4A1F1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Text 54"/>
          <p:cNvSpPr/>
          <p:nvPr/>
        </p:nvSpPr>
        <p:spPr>
          <a:xfrm>
            <a:off x="15301754" y="4753292"/>
            <a:ext cx="18337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kern="0" spc="12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500" dirty="0"/>
          </a:p>
        </p:txBody>
      </p:sp>
      <p:sp>
        <p:nvSpPr>
          <p:cNvPr id="64" name="Shape 55"/>
          <p:cNvSpPr/>
          <p:nvPr/>
        </p:nvSpPr>
        <p:spPr>
          <a:xfrm>
            <a:off x="15301754" y="5172392"/>
            <a:ext cx="552450" cy="552450"/>
          </a:xfrm>
          <a:prstGeom prst="roundRect">
            <a:avLst>
              <a:gd name="adj" fmla="val 17241"/>
            </a:avLst>
          </a:prstGeom>
          <a:solidFill>
            <a:srgbClr val="F87171">
              <a:alpha val="12000"/>
            </a:srgbClr>
          </a:solidFill>
          <a:ln w="9525">
            <a:solidFill>
              <a:srgbClr val="F8717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425579" y="5296217"/>
            <a:ext cx="304800" cy="304800"/>
          </a:xfrm>
          <a:prstGeom prst="rect">
            <a:avLst/>
          </a:prstGeom>
        </p:spPr>
      </p:pic>
      <p:sp>
        <p:nvSpPr>
          <p:cNvPr id="66" name="Text 56"/>
          <p:cNvSpPr/>
          <p:nvPr/>
        </p:nvSpPr>
        <p:spPr>
          <a:xfrm>
            <a:off x="15301754" y="5877242"/>
            <a:ext cx="1833721" cy="806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14"/>
              </a:lnSpc>
              <a:buNone/>
            </a:pPr>
            <a:r>
              <a:rPr lang="en-US" sz="1800" kern="0" spc="-18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</a:t>
            </a:r>
            <a:r>
              <a:rPr lang="en-US" sz="1800" i="1" kern="0" spc="-18" dirty="0">
                <a:solidFill>
                  <a:srgbClr val="FECA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Comercios Unidos Insights</a:t>
            </a:r>
            <a:endParaRPr lang="en-US" sz="1800" dirty="0"/>
          </a:p>
        </p:txBody>
      </p:sp>
      <p:sp>
        <p:nvSpPr>
          <p:cNvPr id="67" name="Text 57"/>
          <p:cNvSpPr/>
          <p:nvPr/>
        </p:nvSpPr>
        <p:spPr>
          <a:xfrm>
            <a:off x="15301754" y="7010400"/>
            <a:ext cx="1833721" cy="79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Exportación de datos para la interfaz visual.</a:t>
            </a:r>
            <a:endParaRPr lang="en-US" sz="1425" dirty="0"/>
          </a:p>
        </p:txBody>
      </p:sp>
      <p:sp>
        <p:nvSpPr>
          <p:cNvPr id="68" name="Shape 58"/>
          <p:cNvSpPr/>
          <p:nvPr/>
        </p:nvSpPr>
        <p:spPr>
          <a:xfrm>
            <a:off x="1047750" y="8503920"/>
            <a:ext cx="16192500" cy="9525"/>
          </a:xfrm>
          <a:prstGeom prst="rect">
            <a:avLst/>
          </a:prstGeom>
          <a:solidFill>
            <a:srgbClr val="1F2D4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9" name="Shape 59"/>
          <p:cNvSpPr/>
          <p:nvPr/>
        </p:nvSpPr>
        <p:spPr>
          <a:xfrm>
            <a:off x="1047750" y="8780145"/>
            <a:ext cx="2062163" cy="506730"/>
          </a:xfrm>
          <a:prstGeom prst="roundRect">
            <a:avLst>
              <a:gd name="adj" fmla="val 7519"/>
            </a:avLst>
          </a:prstGeom>
          <a:solidFill>
            <a:srgbClr val="1F2D4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0" name="Text 60"/>
          <p:cNvSpPr/>
          <p:nvPr/>
        </p:nvSpPr>
        <p:spPr>
          <a:xfrm>
            <a:off x="1257300" y="8959215"/>
            <a:ext cx="24701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kern="0" spc="42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endParaRPr lang="en-US" sz="1050" dirty="0"/>
          </a:p>
        </p:txBody>
      </p:sp>
      <p:sp>
        <p:nvSpPr>
          <p:cNvPr id="71" name="Text 61"/>
          <p:cNvSpPr/>
          <p:nvPr/>
        </p:nvSpPr>
        <p:spPr>
          <a:xfrm>
            <a:off x="1561465" y="8919210"/>
            <a:ext cx="14150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kern="0" spc="108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CRUDO</a:t>
            </a:r>
            <a:endParaRPr lang="en-US" sz="1350" dirty="0"/>
          </a:p>
        </p:txBody>
      </p:sp>
      <p:sp>
        <p:nvSpPr>
          <p:cNvPr id="72" name="Shape 62"/>
          <p:cNvSpPr/>
          <p:nvPr/>
        </p:nvSpPr>
        <p:spPr>
          <a:xfrm>
            <a:off x="3338513" y="9023985"/>
            <a:ext cx="2327275" cy="19050"/>
          </a:xfrm>
          <a:prstGeom prst="rect">
            <a:avLst/>
          </a:prstGeom>
          <a:solidFill>
            <a:srgbClr val="4A5A7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3" name="Shape 63"/>
          <p:cNvSpPr/>
          <p:nvPr/>
        </p:nvSpPr>
        <p:spPr>
          <a:xfrm>
            <a:off x="5894387" y="8780145"/>
            <a:ext cx="2043589" cy="506730"/>
          </a:xfrm>
          <a:prstGeom prst="roundRect">
            <a:avLst>
              <a:gd name="adj" fmla="val 7519"/>
            </a:avLst>
          </a:prstGeom>
          <a:solidFill>
            <a:srgbClr val="1F2D4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4" name="Text 64"/>
          <p:cNvSpPr/>
          <p:nvPr/>
        </p:nvSpPr>
        <p:spPr>
          <a:xfrm>
            <a:off x="6103937" y="8931079"/>
            <a:ext cx="24701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kern="0" spc="42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</a:t>
            </a:r>
            <a:endParaRPr lang="en-US" sz="1050" dirty="0"/>
          </a:p>
        </p:txBody>
      </p:sp>
      <p:sp>
        <p:nvSpPr>
          <p:cNvPr id="75" name="Text 65"/>
          <p:cNvSpPr/>
          <p:nvPr/>
        </p:nvSpPr>
        <p:spPr>
          <a:xfrm>
            <a:off x="6408101" y="8959214"/>
            <a:ext cx="1701325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kern="0" spc="108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</a:t>
            </a:r>
            <a:endParaRPr lang="en-US" sz="1350" dirty="0"/>
          </a:p>
        </p:txBody>
      </p:sp>
      <p:sp>
        <p:nvSpPr>
          <p:cNvPr id="76" name="Shape 66"/>
          <p:cNvSpPr/>
          <p:nvPr/>
        </p:nvSpPr>
        <p:spPr>
          <a:xfrm>
            <a:off x="8166576" y="9023985"/>
            <a:ext cx="2327434" cy="19050"/>
          </a:xfrm>
          <a:prstGeom prst="rect">
            <a:avLst/>
          </a:prstGeom>
          <a:solidFill>
            <a:srgbClr val="4A5A7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7" name="Shape 67"/>
          <p:cNvSpPr/>
          <p:nvPr/>
        </p:nvSpPr>
        <p:spPr>
          <a:xfrm>
            <a:off x="10722611" y="8780145"/>
            <a:ext cx="1771650" cy="506730"/>
          </a:xfrm>
          <a:prstGeom prst="roundRect">
            <a:avLst>
              <a:gd name="adj" fmla="val 7519"/>
            </a:avLst>
          </a:prstGeom>
          <a:solidFill>
            <a:srgbClr val="1F2D4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8" name="Text 68"/>
          <p:cNvSpPr/>
          <p:nvPr/>
        </p:nvSpPr>
        <p:spPr>
          <a:xfrm>
            <a:off x="10912330" y="8911590"/>
            <a:ext cx="247015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kern="0" spc="42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endParaRPr lang="en-US" sz="1050" dirty="0"/>
          </a:p>
        </p:txBody>
      </p:sp>
      <p:sp>
        <p:nvSpPr>
          <p:cNvPr id="79" name="Text 69"/>
          <p:cNvSpPr/>
          <p:nvPr/>
        </p:nvSpPr>
        <p:spPr>
          <a:xfrm>
            <a:off x="11236325" y="8919210"/>
            <a:ext cx="11245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kern="0" spc="108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</a:t>
            </a:r>
            <a:endParaRPr lang="en-US" sz="1350" dirty="0"/>
          </a:p>
        </p:txBody>
      </p:sp>
      <p:sp>
        <p:nvSpPr>
          <p:cNvPr id="80" name="Shape 70"/>
          <p:cNvSpPr/>
          <p:nvPr/>
        </p:nvSpPr>
        <p:spPr>
          <a:xfrm>
            <a:off x="12722861" y="9023985"/>
            <a:ext cx="2327275" cy="19050"/>
          </a:xfrm>
          <a:prstGeom prst="rect">
            <a:avLst/>
          </a:prstGeom>
          <a:solidFill>
            <a:srgbClr val="4A5A7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1" name="Shape 71"/>
          <p:cNvSpPr/>
          <p:nvPr/>
        </p:nvSpPr>
        <p:spPr>
          <a:xfrm>
            <a:off x="15278735" y="8780145"/>
            <a:ext cx="1961515" cy="506730"/>
          </a:xfrm>
          <a:prstGeom prst="roundRect">
            <a:avLst>
              <a:gd name="adj" fmla="val 7519"/>
            </a:avLst>
          </a:prstGeom>
          <a:solidFill>
            <a:srgbClr val="2B141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2" name="Text 72"/>
          <p:cNvSpPr/>
          <p:nvPr/>
        </p:nvSpPr>
        <p:spPr>
          <a:xfrm>
            <a:off x="15431453" y="8891368"/>
            <a:ext cx="332422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kern="0" spc="42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endParaRPr lang="en-US" sz="1050" dirty="0"/>
          </a:p>
        </p:txBody>
      </p:sp>
      <p:sp>
        <p:nvSpPr>
          <p:cNvPr id="83" name="Text 73"/>
          <p:cNvSpPr/>
          <p:nvPr/>
        </p:nvSpPr>
        <p:spPr>
          <a:xfrm>
            <a:off x="15877858" y="8919210"/>
            <a:ext cx="15427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kern="0" spc="108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84" name="Text 74"/>
          <p:cNvSpPr/>
          <p:nvPr/>
        </p:nvSpPr>
        <p:spPr>
          <a:xfrm>
            <a:off x="992523" y="9392602"/>
            <a:ext cx="372677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4A5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ANÁLISIS</a:t>
            </a:r>
            <a:endParaRPr lang="en-US" sz="1800" dirty="0"/>
          </a:p>
        </p:txBody>
      </p:sp>
      <p:sp>
        <p:nvSpPr>
          <p:cNvPr id="85" name="Text 75"/>
          <p:cNvSpPr/>
          <p:nvPr/>
        </p:nvSpPr>
        <p:spPr>
          <a:xfrm>
            <a:off x="16155194" y="9547860"/>
            <a:ext cx="116125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4A5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02 06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3704F80-60A7-125B-2249-63D547605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382" y="2900363"/>
            <a:ext cx="16501235" cy="4095958"/>
          </a:xfrm>
          <a:prstGeom prst="rect">
            <a:avLst/>
          </a:prstGeom>
        </p:spPr>
      </p:pic>
      <p:sp>
        <p:nvSpPr>
          <p:cNvPr id="4" name="Text 4">
            <a:extLst>
              <a:ext uri="{FF2B5EF4-FFF2-40B4-BE49-F238E27FC236}">
                <a16:creationId xmlns:a16="http://schemas.microsoft.com/office/drawing/2014/main" id="{7A8B8173-2718-6328-9991-F19CF6A754DD}"/>
              </a:ext>
            </a:extLst>
          </p:cNvPr>
          <p:cNvSpPr/>
          <p:nvPr/>
        </p:nvSpPr>
        <p:spPr>
          <a:xfrm>
            <a:off x="590550" y="975042"/>
            <a:ext cx="16089630" cy="857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996"/>
              </a:lnSpc>
              <a:buNone/>
            </a:pPr>
            <a:r>
              <a:rPr lang="en-US" sz="5700" kern="0" spc="-85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Preprocesamiento</a:t>
            </a:r>
            <a:endParaRPr lang="en-US" sz="5700" dirty="0"/>
          </a:p>
        </p:txBody>
      </p:sp>
    </p:spTree>
    <p:extLst>
      <p:ext uri="{BB962C8B-B14F-4D97-AF65-F5344CB8AC3E}">
        <p14:creationId xmlns:p14="http://schemas.microsoft.com/office/powerpoint/2010/main" val="1706706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BB32703-C8FE-03EF-B41C-251BF2975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357" y="2893378"/>
            <a:ext cx="13223618" cy="4957444"/>
          </a:xfrm>
          <a:prstGeom prst="rect">
            <a:avLst/>
          </a:prstGeom>
        </p:spPr>
      </p:pic>
      <p:sp>
        <p:nvSpPr>
          <p:cNvPr id="4" name="Text 4">
            <a:extLst>
              <a:ext uri="{FF2B5EF4-FFF2-40B4-BE49-F238E27FC236}">
                <a16:creationId xmlns:a16="http://schemas.microsoft.com/office/drawing/2014/main" id="{58F08A40-9ECE-FEEE-C3ED-D66822A979AF}"/>
              </a:ext>
            </a:extLst>
          </p:cNvPr>
          <p:cNvSpPr/>
          <p:nvPr/>
        </p:nvSpPr>
        <p:spPr>
          <a:xfrm>
            <a:off x="590550" y="975042"/>
            <a:ext cx="16089630" cy="857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996"/>
              </a:lnSpc>
              <a:buNone/>
            </a:pPr>
            <a:r>
              <a:rPr lang="en-US" sz="5700" kern="0" spc="-85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BoW</a:t>
            </a:r>
            <a:r>
              <a:rPr lang="en-US" sz="5700" kern="0" spc="-8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/TFIDF</a:t>
            </a:r>
            <a:endParaRPr lang="en-US" sz="57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6722D4B-CF76-F10D-7F97-C283A68FA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55" y="1956943"/>
            <a:ext cx="18014289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722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EF3823A-52DE-4E69-9018-62E81004B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976" y="2384473"/>
            <a:ext cx="5392737" cy="6747462"/>
          </a:xfrm>
          <a:prstGeom prst="rect">
            <a:avLst/>
          </a:prstGeom>
        </p:spPr>
      </p:pic>
      <p:sp>
        <p:nvSpPr>
          <p:cNvPr id="4" name="Text 4">
            <a:extLst>
              <a:ext uri="{FF2B5EF4-FFF2-40B4-BE49-F238E27FC236}">
                <a16:creationId xmlns:a16="http://schemas.microsoft.com/office/drawing/2014/main" id="{D723FE50-5FF3-415C-CD2E-A73CB83B3132}"/>
              </a:ext>
            </a:extLst>
          </p:cNvPr>
          <p:cNvSpPr/>
          <p:nvPr/>
        </p:nvSpPr>
        <p:spPr>
          <a:xfrm>
            <a:off x="590550" y="975042"/>
            <a:ext cx="16089630" cy="857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996"/>
              </a:lnSpc>
              <a:buNone/>
            </a:pPr>
            <a:r>
              <a:rPr lang="en-US" sz="5700" kern="0" spc="-85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Diccionario</a:t>
            </a:r>
            <a:r>
              <a:rPr lang="en-US" sz="5700" kern="0" spc="-8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Dominio</a:t>
            </a:r>
            <a:endParaRPr lang="en-US" sz="5700" dirty="0"/>
          </a:p>
        </p:txBody>
      </p:sp>
    </p:spTree>
    <p:extLst>
      <p:ext uri="{BB962C8B-B14F-4D97-AF65-F5344CB8AC3E}">
        <p14:creationId xmlns:p14="http://schemas.microsoft.com/office/powerpoint/2010/main" val="2225530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52500"/>
            <a:ext cx="545465" cy="461010"/>
          </a:xfrm>
          <a:prstGeom prst="roundRect">
            <a:avLst>
              <a:gd name="adj" fmla="val 4132"/>
            </a:avLst>
          </a:prstGeom>
          <a:solidFill>
            <a:srgbClr val="E8DCC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62050" y="1009650"/>
            <a:ext cx="39306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kern="0" spc="78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764665" y="1009650"/>
            <a:ext cx="30908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kern="0" spc="312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169001" y="1011555"/>
            <a:ext cx="3999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kern="0" spc="312" dirty="0">
                <a:solidFill>
                  <a:srgbClr val="D14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DESCUBRIMIENTO LÉXICO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1832610"/>
            <a:ext cx="16089630" cy="857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996"/>
              </a:lnSpc>
              <a:buNone/>
            </a:pPr>
            <a:r>
              <a:rPr lang="en-US" sz="5700" kern="0" spc="-8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canal es </a:t>
            </a:r>
            <a:r>
              <a:rPr lang="en-US" sz="5700" i="1" kern="0" spc="-85" dirty="0">
                <a:solidFill>
                  <a:srgbClr val="D14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transaccional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1047750" y="2899728"/>
            <a:ext cx="14716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i="1" dirty="0">
                <a:solidFill>
                  <a:srgbClr val="2B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cinco palabras de mayor score global son operativas, no relacionales.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47750" y="3962717"/>
            <a:ext cx="80914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850" kern="0" spc="-29" dirty="0">
                <a:solidFill>
                  <a:srgbClr val="1A1A1A"/>
                </a:solidFill>
                <a:latin typeface="Georgia" pitchFamily="34" charset="0"/>
              </a:rPr>
              <a:t>favor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047750" y="4416107"/>
            <a:ext cx="25527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kern="0" spc="12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52850" y="4097973"/>
            <a:ext cx="3865721" cy="323850"/>
          </a:xfrm>
          <a:prstGeom prst="rect">
            <a:avLst/>
          </a:prstGeom>
          <a:solidFill>
            <a:srgbClr val="E8DCC4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762375" y="4107498"/>
            <a:ext cx="3769677" cy="304800"/>
          </a:xfrm>
          <a:prstGeom prst="rect">
            <a:avLst/>
          </a:prstGeom>
          <a:solidFill>
            <a:srgbClr val="D14B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770971" y="4113212"/>
            <a:ext cx="121920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0.94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47750" y="4911407"/>
            <a:ext cx="11353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850" kern="0" spc="-29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papelería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047750" y="5364798"/>
            <a:ext cx="25527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kern="0" spc="12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52850" y="5046662"/>
            <a:ext cx="3865721" cy="323850"/>
          </a:xfrm>
          <a:prstGeom prst="rect">
            <a:avLst/>
          </a:prstGeom>
          <a:solidFill>
            <a:srgbClr val="E8DCC4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3762375" y="5056187"/>
            <a:ext cx="3538855" cy="304800"/>
          </a:xfrm>
          <a:prstGeom prst="rect">
            <a:avLst/>
          </a:prstGeom>
          <a:solidFill>
            <a:srgbClr val="D14B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7770971" y="5061903"/>
            <a:ext cx="121920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0.88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47750" y="5860098"/>
            <a:ext cx="114919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850" kern="0" spc="-29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pago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047750" y="6313487"/>
            <a:ext cx="25527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kern="0" spc="12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52850" y="5995353"/>
            <a:ext cx="3865721" cy="323850"/>
          </a:xfrm>
          <a:prstGeom prst="rect">
            <a:avLst/>
          </a:prstGeom>
          <a:solidFill>
            <a:srgbClr val="E8DCC4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762375" y="6004878"/>
            <a:ext cx="3231198" cy="304800"/>
          </a:xfrm>
          <a:prstGeom prst="rect">
            <a:avLst/>
          </a:prstGeom>
          <a:solidFill>
            <a:srgbClr val="D14B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7770971" y="6010592"/>
            <a:ext cx="121920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0.81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47750" y="6808787"/>
            <a:ext cx="162464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850" kern="0" spc="-29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pedido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1047750" y="7262178"/>
            <a:ext cx="25527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kern="0" spc="12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52850" y="6944042"/>
            <a:ext cx="3865721" cy="323850"/>
          </a:xfrm>
          <a:prstGeom prst="rect">
            <a:avLst/>
          </a:prstGeom>
          <a:solidFill>
            <a:srgbClr val="E8DCC4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3762375" y="6953567"/>
            <a:ext cx="2923381" cy="304800"/>
          </a:xfrm>
          <a:prstGeom prst="rect">
            <a:avLst/>
          </a:prstGeom>
          <a:solidFill>
            <a:srgbClr val="D14B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7770971" y="6959282"/>
            <a:ext cx="121920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0.73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047750" y="7757478"/>
            <a:ext cx="9747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850" kern="0" spc="-29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factura</a:t>
            </a:r>
            <a:endParaRPr lang="en-US" sz="2850" dirty="0"/>
          </a:p>
        </p:txBody>
      </p:sp>
      <p:sp>
        <p:nvSpPr>
          <p:cNvPr id="29" name="Text 27"/>
          <p:cNvSpPr/>
          <p:nvPr/>
        </p:nvSpPr>
        <p:spPr>
          <a:xfrm>
            <a:off x="1047750" y="8210867"/>
            <a:ext cx="25527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kern="0" spc="12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OPERATIVO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752850" y="7892732"/>
            <a:ext cx="3865721" cy="323850"/>
          </a:xfrm>
          <a:prstGeom prst="rect">
            <a:avLst/>
          </a:prstGeom>
          <a:solidFill>
            <a:srgbClr val="E8DCC4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3762375" y="7902257"/>
            <a:ext cx="2615724" cy="304800"/>
          </a:xfrm>
          <a:prstGeom prst="rect">
            <a:avLst/>
          </a:prstGeom>
          <a:solidFill>
            <a:srgbClr val="D14B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7770971" y="7907973"/>
            <a:ext cx="121920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0.65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047750" y="8706167"/>
            <a:ext cx="12166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850" kern="0" spc="-29" dirty="0">
                <a:solidFill>
                  <a:srgbClr val="1A1A1A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entrega</a:t>
            </a:r>
            <a:endParaRPr lang="en-US" sz="2850" dirty="0"/>
          </a:p>
        </p:txBody>
      </p:sp>
      <p:sp>
        <p:nvSpPr>
          <p:cNvPr id="34" name="Text 32"/>
          <p:cNvSpPr/>
          <p:nvPr/>
        </p:nvSpPr>
        <p:spPr>
          <a:xfrm>
            <a:off x="1047750" y="9159557"/>
            <a:ext cx="255270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kern="0" spc="120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LOGÍSTICO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752850" y="8841423"/>
            <a:ext cx="3865721" cy="323850"/>
          </a:xfrm>
          <a:prstGeom prst="rect">
            <a:avLst/>
          </a:prstGeom>
          <a:solidFill>
            <a:srgbClr val="E8DCC4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3762375" y="8850948"/>
            <a:ext cx="1692434" cy="3048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7770971" y="8856662"/>
            <a:ext cx="121920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8A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0.42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675971" y="3890328"/>
            <a:ext cx="7791207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kern="0" spc="216" dirty="0">
                <a:solidFill>
                  <a:srgbClr val="D14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675971" y="4454207"/>
            <a:ext cx="7791207" cy="1252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canal de WhatsApp no se </a:t>
            </a:r>
            <a:r>
              <a:rPr lang="en-US" sz="255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</a:t>
            </a:r>
            <a:r>
              <a:rPr lang="en-US" sz="25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para </a:t>
            </a:r>
            <a:r>
              <a:rPr lang="en-US" sz="255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hacer</a:t>
            </a:r>
            <a:r>
              <a:rPr lang="en-US" sz="25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55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prospección</a:t>
            </a:r>
            <a:r>
              <a:rPr lang="en-US" sz="25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</a:t>
            </a:r>
            <a:r>
              <a:rPr lang="en-US" sz="255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ventas</a:t>
            </a:r>
            <a:r>
              <a:rPr lang="en-US" sz="25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se </a:t>
            </a:r>
            <a:r>
              <a:rPr lang="en-US" sz="255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relacionarse</a:t>
            </a:r>
            <a:r>
              <a:rPr lang="en-US" sz="25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 </a:t>
            </a:r>
            <a:r>
              <a:rPr lang="en-US" sz="255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</a:t>
            </a:r>
            <a:r>
              <a:rPr lang="en-US" sz="25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55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</a:t>
            </a:r>
            <a:r>
              <a:rPr lang="en-US" sz="25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 dar </a:t>
            </a:r>
            <a:r>
              <a:rPr lang="en-US" sz="2550" i="1" dirty="0">
                <a:solidFill>
                  <a:srgbClr val="D14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seguimiento administrativo</a:t>
            </a:r>
            <a:r>
              <a:rPr lang="en-US" sz="25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550" dirty="0"/>
          </a:p>
        </p:txBody>
      </p:sp>
      <p:sp>
        <p:nvSpPr>
          <p:cNvPr id="40" name="Shape 38"/>
          <p:cNvSpPr/>
          <p:nvPr/>
        </p:nvSpPr>
        <p:spPr>
          <a:xfrm>
            <a:off x="9675971" y="5992495"/>
            <a:ext cx="3696494" cy="190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9675971" y="6144895"/>
            <a:ext cx="380738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kern="0" spc="-72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412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9675971" y="6697345"/>
            <a:ext cx="3807388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kern="0" spc="144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 DEL DICCIONARIO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3543915" y="5992495"/>
            <a:ext cx="3696494" cy="190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13543915" y="6144895"/>
            <a:ext cx="380738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kern="0" spc="-72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/ 5</a:t>
            </a:r>
            <a:endParaRPr lang="en-US" sz="3600" dirty="0"/>
          </a:p>
        </p:txBody>
      </p:sp>
      <p:sp>
        <p:nvSpPr>
          <p:cNvPr id="45" name="Text 43"/>
          <p:cNvSpPr/>
          <p:nvPr/>
        </p:nvSpPr>
        <p:spPr>
          <a:xfrm>
            <a:off x="13543915" y="6697345"/>
            <a:ext cx="3807388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kern="0" spc="144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TOP‑TERMS SON TRANSACCIONALES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47750" y="9547860"/>
            <a:ext cx="351666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VOCABULARIO DEL DOMINIO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6158845" y="9547860"/>
            <a:ext cx="115760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03 06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52500"/>
            <a:ext cx="545465" cy="461010"/>
          </a:xfrm>
          <a:prstGeom prst="roundRect">
            <a:avLst>
              <a:gd name="adj" fmla="val 4132"/>
            </a:avLst>
          </a:prstGeom>
          <a:solidFill>
            <a:srgbClr val="E8DCC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62050" y="1009650"/>
            <a:ext cx="39306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kern="0" spc="78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764665" y="1009650"/>
            <a:ext cx="30908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kern="0" spc="312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169001" y="1011555"/>
            <a:ext cx="36957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kern="0" spc="312" dirty="0">
                <a:solidFill>
                  <a:srgbClr val="D14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CLÚSTERES TEMÁTICOS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47750" y="2203168"/>
            <a:ext cx="1471612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i="1" dirty="0">
                <a:solidFill>
                  <a:srgbClr val="2B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 sobre TF‑IDF separa los chats </a:t>
            </a:r>
            <a:r>
              <a:rPr lang="en-US" sz="3000" i="1" dirty="0" err="1">
                <a:solidFill>
                  <a:srgbClr val="2B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</a:t>
            </a:r>
            <a:r>
              <a:rPr lang="en-US" sz="3000" i="1" dirty="0">
                <a:solidFill>
                  <a:srgbClr val="2B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000" i="1" dirty="0" err="1">
                <a:solidFill>
                  <a:srgbClr val="2B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nueve</a:t>
            </a:r>
            <a:r>
              <a:rPr lang="en-US" sz="3000" i="1" dirty="0">
                <a:solidFill>
                  <a:srgbClr val="2B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categorías estables y mutuamente excluyentes.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47750" y="4347528"/>
            <a:ext cx="3876675" cy="4972050"/>
          </a:xfrm>
          <a:prstGeom prst="rect">
            <a:avLst/>
          </a:prstGeom>
          <a:solidFill>
            <a:srgbClr val="FBFAF6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1323975" y="4642803"/>
            <a:ext cx="429895" cy="3276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438275" y="4699953"/>
            <a:ext cx="27749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72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3975" y="5160962"/>
            <a:ext cx="3423952" cy="750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kern="0" spc="-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Cotización y presupuesto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323975" y="6102032"/>
            <a:ext cx="342395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-96" dirty="0">
                <a:solidFill>
                  <a:srgbClr val="D14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r>
              <a:rPr lang="en-US" sz="2700" kern="0" spc="-96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1323975" y="8294687"/>
            <a:ext cx="3324225" cy="9525"/>
          </a:xfrm>
          <a:prstGeom prst="rect">
            <a:avLst/>
          </a:prstGeom>
          <a:solidFill>
            <a:srgbClr val="D9D2C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323975" y="8475662"/>
            <a:ext cx="342395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350" dirty="0">
                <a:solidFill>
                  <a:srgbClr val="2B27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cotización · precio · presupuesto · descuento · checar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153025" y="4347528"/>
            <a:ext cx="3876675" cy="4972050"/>
          </a:xfrm>
          <a:prstGeom prst="rect">
            <a:avLst/>
          </a:prstGeom>
          <a:solidFill>
            <a:srgbClr val="FBFAF6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5429250" y="4642803"/>
            <a:ext cx="429895" cy="3276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543550" y="4699953"/>
            <a:ext cx="27749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72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29250" y="5160962"/>
            <a:ext cx="3423952" cy="750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kern="0" spc="-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Gestión de pedidos y entregas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5429250" y="6102032"/>
            <a:ext cx="342395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-96" dirty="0">
                <a:solidFill>
                  <a:srgbClr val="D14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r>
              <a:rPr lang="en-US" sz="2700" kern="0" spc="-96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5429250" y="8294687"/>
            <a:ext cx="3324225" cy="9525"/>
          </a:xfrm>
          <a:prstGeom prst="rect">
            <a:avLst/>
          </a:prstGeom>
          <a:solidFill>
            <a:srgbClr val="D9D2C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5429250" y="8475662"/>
            <a:ext cx="342395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350" dirty="0">
                <a:solidFill>
                  <a:srgbClr val="2B27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 · entrega · orden · estatus · cuándo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258300" y="4347528"/>
            <a:ext cx="3876675" cy="497205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9534525" y="4642803"/>
            <a:ext cx="429895" cy="327660"/>
          </a:xfrm>
          <a:prstGeom prst="rect">
            <a:avLst/>
          </a:prstGeom>
          <a:solidFill>
            <a:srgbClr val="D14B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9648825" y="4699953"/>
            <a:ext cx="27749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72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34525" y="5160962"/>
            <a:ext cx="3423952" cy="750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kern="0" spc="-25" dirty="0">
                <a:solidFill>
                  <a:srgbClr val="F6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Facturación y documentos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9534525" y="6102032"/>
            <a:ext cx="342395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-96" dirty="0">
                <a:solidFill>
                  <a:srgbClr val="D14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r>
              <a:rPr lang="en-US" sz="2700" kern="0" spc="-96" dirty="0">
                <a:solidFill>
                  <a:srgbClr val="F6F4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4800" dirty="0"/>
          </a:p>
        </p:txBody>
      </p:sp>
      <p:sp>
        <p:nvSpPr>
          <p:cNvPr id="27" name="Shape 25"/>
          <p:cNvSpPr/>
          <p:nvPr/>
        </p:nvSpPr>
        <p:spPr>
          <a:xfrm>
            <a:off x="9534525" y="8294687"/>
            <a:ext cx="3324225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9534525" y="8475662"/>
            <a:ext cx="342395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350" dirty="0">
                <a:solidFill>
                  <a:srgbClr val="D6C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factura · complemento · CFDI · datos fiscales · RFC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3363575" y="4347528"/>
            <a:ext cx="3876675" cy="4972050"/>
          </a:xfrm>
          <a:prstGeom prst="rect">
            <a:avLst/>
          </a:prstGeom>
          <a:solidFill>
            <a:srgbClr val="FBFAF6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13639800" y="4642803"/>
            <a:ext cx="429895" cy="3276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13754100" y="4699953"/>
            <a:ext cx="27749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72" dirty="0">
                <a:solidFill>
                  <a:srgbClr val="F6F4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639800" y="5160962"/>
            <a:ext cx="3423952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kern="0" spc="-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Confirmación de estado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3639800" y="5745798"/>
            <a:ext cx="342395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kern="0" spc="-96" dirty="0">
                <a:solidFill>
                  <a:srgbClr val="D14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r>
              <a:rPr lang="en-US" sz="2700" kern="0" spc="-96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4800" dirty="0"/>
          </a:p>
        </p:txBody>
      </p:sp>
      <p:sp>
        <p:nvSpPr>
          <p:cNvPr id="34" name="Shape 32"/>
          <p:cNvSpPr/>
          <p:nvPr/>
        </p:nvSpPr>
        <p:spPr>
          <a:xfrm>
            <a:off x="13639800" y="8294687"/>
            <a:ext cx="3324225" cy="9525"/>
          </a:xfrm>
          <a:prstGeom prst="rect">
            <a:avLst/>
          </a:prstGeom>
          <a:solidFill>
            <a:srgbClr val="D9D2C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13639800" y="8475662"/>
            <a:ext cx="342395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350" dirty="0">
                <a:solidFill>
                  <a:srgbClr val="2B27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confirmar · listo · recibido · gracias · ok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047750" y="9547860"/>
            <a:ext cx="301549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CLÚSTERES TEMÁTICOS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151225" y="9547860"/>
            <a:ext cx="116522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04 06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52500"/>
            <a:ext cx="545465" cy="461010"/>
          </a:xfrm>
          <a:prstGeom prst="roundRect">
            <a:avLst>
              <a:gd name="adj" fmla="val 4132"/>
            </a:avLst>
          </a:prstGeom>
          <a:solidFill>
            <a:srgbClr val="E8DCC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62050" y="1009650"/>
            <a:ext cx="39306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kern="0" spc="78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764665" y="1009650"/>
            <a:ext cx="30908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kern="0" spc="312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169001" y="1011555"/>
            <a:ext cx="33878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kern="0" spc="312" dirty="0">
                <a:solidFill>
                  <a:srgbClr val="D14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SENTIMIENTO &amp; TONO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1832610"/>
            <a:ext cx="16089630" cy="857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996"/>
              </a:lnSpc>
              <a:buNone/>
            </a:pPr>
            <a:r>
              <a:rPr lang="en-US" sz="5700" kern="0" spc="-8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canal </a:t>
            </a:r>
            <a:r>
              <a:rPr lang="en-US" sz="5700" i="1" kern="0" spc="-85" dirty="0">
                <a:solidFill>
                  <a:srgbClr val="D14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neutral</a:t>
            </a:r>
            <a:r>
              <a:rPr lang="en-US" sz="5700" kern="0" spc="-8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con emoción en los márgenes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1047750" y="3109278"/>
            <a:ext cx="8064437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kern="0" spc="216" dirty="0">
                <a:solidFill>
                  <a:srgbClr val="D14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POLARIDAD &amp; EMOCIÓN · POR MENSAJE, TODO EL CORPUS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3616007"/>
            <a:ext cx="2095500" cy="2095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48050" y="3827462"/>
            <a:ext cx="5592128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kern="0" spc="189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MENSAJE · N = 24 100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448050" y="4627562"/>
            <a:ext cx="5429250" cy="9525"/>
          </a:xfrm>
          <a:prstGeom prst="rect">
            <a:avLst/>
          </a:prstGeom>
          <a:solidFill>
            <a:srgbClr val="D9D2C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3448050" y="4347528"/>
            <a:ext cx="133350" cy="133350"/>
          </a:xfrm>
          <a:prstGeom prst="rect">
            <a:avLst/>
          </a:prstGeom>
          <a:solidFill>
            <a:srgbClr val="D6C9A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3752850" y="4267517"/>
            <a:ext cx="4752327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500110" y="4267517"/>
            <a:ext cx="45339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72%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3448050" y="5063807"/>
            <a:ext cx="5429250" cy="9525"/>
          </a:xfrm>
          <a:prstGeom prst="rect">
            <a:avLst/>
          </a:prstGeom>
          <a:solidFill>
            <a:srgbClr val="D9D2C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2"/>
          <p:cNvSpPr/>
          <p:nvPr/>
        </p:nvSpPr>
        <p:spPr>
          <a:xfrm>
            <a:off x="3448050" y="4783773"/>
            <a:ext cx="133350" cy="133350"/>
          </a:xfrm>
          <a:prstGeom prst="rect">
            <a:avLst/>
          </a:prstGeom>
          <a:solidFill>
            <a:srgbClr val="5C7A4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3752850" y="4703762"/>
            <a:ext cx="4752327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Positivo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8500110" y="4703762"/>
            <a:ext cx="45339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19%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3448050" y="5220017"/>
            <a:ext cx="133350" cy="133350"/>
          </a:xfrm>
          <a:prstGeom prst="rect">
            <a:avLst/>
          </a:prstGeom>
          <a:solidFill>
            <a:srgbClr val="D14B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3752850" y="5140007"/>
            <a:ext cx="4881829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Negativo</a:t>
            </a:r>
            <a:endParaRPr lang="en-US" sz="16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6260148"/>
            <a:ext cx="2095500" cy="20955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448050" y="5978207"/>
            <a:ext cx="5592128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kern="0" spc="189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DE EMOCIONES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3448050" y="6801167"/>
            <a:ext cx="5429250" cy="9525"/>
          </a:xfrm>
          <a:prstGeom prst="rect">
            <a:avLst/>
          </a:prstGeom>
          <a:solidFill>
            <a:srgbClr val="D9D2C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Shape 20"/>
          <p:cNvSpPr/>
          <p:nvPr/>
        </p:nvSpPr>
        <p:spPr>
          <a:xfrm>
            <a:off x="3448050" y="6509703"/>
            <a:ext cx="133350" cy="133350"/>
          </a:xfrm>
          <a:prstGeom prst="rect">
            <a:avLst/>
          </a:prstGeom>
          <a:solidFill>
            <a:srgbClr val="6E686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Shape 21"/>
          <p:cNvSpPr/>
          <p:nvPr/>
        </p:nvSpPr>
        <p:spPr>
          <a:xfrm>
            <a:off x="3752850" y="6418262"/>
            <a:ext cx="948531" cy="316230"/>
          </a:xfrm>
          <a:prstGeom prst="roundRect">
            <a:avLst>
              <a:gd name="adj" fmla="val 50000"/>
            </a:avLst>
          </a:prstGeom>
          <a:solidFill>
            <a:srgbClr val="EDEA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2"/>
          <p:cNvSpPr/>
          <p:nvPr/>
        </p:nvSpPr>
        <p:spPr>
          <a:xfrm>
            <a:off x="3886200" y="6456362"/>
            <a:ext cx="758031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4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others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7225665" y="6429692"/>
            <a:ext cx="172783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8 218 · 85.1%</a:t>
            </a:r>
            <a:endParaRPr lang="en-US" sz="1650" dirty="0"/>
          </a:p>
        </p:txBody>
      </p:sp>
      <p:sp>
        <p:nvSpPr>
          <p:cNvPr id="28" name="Shape 24"/>
          <p:cNvSpPr/>
          <p:nvPr/>
        </p:nvSpPr>
        <p:spPr>
          <a:xfrm>
            <a:off x="3448050" y="7260272"/>
            <a:ext cx="5429250" cy="9525"/>
          </a:xfrm>
          <a:prstGeom prst="rect">
            <a:avLst/>
          </a:prstGeom>
          <a:solidFill>
            <a:srgbClr val="D9D2C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Shape 25"/>
          <p:cNvSpPr/>
          <p:nvPr/>
        </p:nvSpPr>
        <p:spPr>
          <a:xfrm>
            <a:off x="3448050" y="6968807"/>
            <a:ext cx="133350" cy="133350"/>
          </a:xfrm>
          <a:prstGeom prst="rect">
            <a:avLst/>
          </a:prstGeom>
          <a:solidFill>
            <a:srgbClr val="3F6B3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Shape 26"/>
          <p:cNvSpPr/>
          <p:nvPr/>
        </p:nvSpPr>
        <p:spPr>
          <a:xfrm>
            <a:off x="3752850" y="6877367"/>
            <a:ext cx="650081" cy="316230"/>
          </a:xfrm>
          <a:prstGeom prst="roundRect">
            <a:avLst>
              <a:gd name="adj" fmla="val 50000"/>
            </a:avLst>
          </a:prstGeom>
          <a:solidFill>
            <a:srgbClr val="E4EED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Text 27"/>
          <p:cNvSpPr/>
          <p:nvPr/>
        </p:nvSpPr>
        <p:spPr>
          <a:xfrm>
            <a:off x="3886200" y="6915467"/>
            <a:ext cx="459581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4" dirty="0">
                <a:solidFill>
                  <a:srgbClr val="2F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joy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7225665" y="6888798"/>
            <a:ext cx="172783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1 405 · 14.6%</a:t>
            </a:r>
            <a:endParaRPr lang="en-US" sz="1650" dirty="0"/>
          </a:p>
        </p:txBody>
      </p:sp>
      <p:sp>
        <p:nvSpPr>
          <p:cNvPr id="33" name="Shape 29"/>
          <p:cNvSpPr/>
          <p:nvPr/>
        </p:nvSpPr>
        <p:spPr>
          <a:xfrm>
            <a:off x="3448050" y="7719378"/>
            <a:ext cx="5429250" cy="9525"/>
          </a:xfrm>
          <a:prstGeom prst="rect">
            <a:avLst/>
          </a:prstGeom>
          <a:solidFill>
            <a:srgbClr val="D9D2C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Shape 30"/>
          <p:cNvSpPr/>
          <p:nvPr/>
        </p:nvSpPr>
        <p:spPr>
          <a:xfrm>
            <a:off x="3448050" y="7427912"/>
            <a:ext cx="133350" cy="133350"/>
          </a:xfrm>
          <a:prstGeom prst="rect">
            <a:avLst/>
          </a:prstGeom>
          <a:solidFill>
            <a:srgbClr val="E08A2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5" name="Shape 31"/>
          <p:cNvSpPr/>
          <p:nvPr/>
        </p:nvSpPr>
        <p:spPr>
          <a:xfrm>
            <a:off x="3752850" y="7336473"/>
            <a:ext cx="1082357" cy="316230"/>
          </a:xfrm>
          <a:prstGeom prst="roundRect">
            <a:avLst>
              <a:gd name="adj" fmla="val 50000"/>
            </a:avLst>
          </a:prstGeom>
          <a:solidFill>
            <a:srgbClr val="FBEBD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Text 32"/>
          <p:cNvSpPr/>
          <p:nvPr/>
        </p:nvSpPr>
        <p:spPr>
          <a:xfrm>
            <a:off x="3886200" y="7374573"/>
            <a:ext cx="891857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4" dirty="0">
                <a:solidFill>
                  <a:srgbClr val="8A4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surprise</a:t>
            </a:r>
            <a:endParaRPr lang="en-US" sz="1350" dirty="0"/>
          </a:p>
        </p:txBody>
      </p:sp>
      <p:sp>
        <p:nvSpPr>
          <p:cNvPr id="37" name="Text 33"/>
          <p:cNvSpPr/>
          <p:nvPr/>
        </p:nvSpPr>
        <p:spPr>
          <a:xfrm>
            <a:off x="7734300" y="7347903"/>
            <a:ext cx="121920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· 0.2%</a:t>
            </a:r>
            <a:endParaRPr lang="en-US" sz="1650" dirty="0"/>
          </a:p>
        </p:txBody>
      </p:sp>
      <p:sp>
        <p:nvSpPr>
          <p:cNvPr id="38" name="Shape 34"/>
          <p:cNvSpPr/>
          <p:nvPr/>
        </p:nvSpPr>
        <p:spPr>
          <a:xfrm>
            <a:off x="3448050" y="8178483"/>
            <a:ext cx="5429250" cy="9525"/>
          </a:xfrm>
          <a:prstGeom prst="rect">
            <a:avLst/>
          </a:prstGeom>
          <a:solidFill>
            <a:srgbClr val="D9D2C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9" name="Shape 35"/>
          <p:cNvSpPr/>
          <p:nvPr/>
        </p:nvSpPr>
        <p:spPr>
          <a:xfrm>
            <a:off x="3448050" y="7887017"/>
            <a:ext cx="133350" cy="133350"/>
          </a:xfrm>
          <a:prstGeom prst="rect">
            <a:avLst/>
          </a:prstGeom>
          <a:solidFill>
            <a:srgbClr val="D14B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0" name="Shape 36"/>
          <p:cNvSpPr/>
          <p:nvPr/>
        </p:nvSpPr>
        <p:spPr>
          <a:xfrm>
            <a:off x="3752850" y="7795578"/>
            <a:ext cx="885031" cy="316230"/>
          </a:xfrm>
          <a:prstGeom prst="roundRect">
            <a:avLst>
              <a:gd name="adj" fmla="val 50000"/>
            </a:avLst>
          </a:prstGeom>
          <a:solidFill>
            <a:srgbClr val="F6D8D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1" name="Text 37"/>
          <p:cNvSpPr/>
          <p:nvPr/>
        </p:nvSpPr>
        <p:spPr>
          <a:xfrm>
            <a:off x="3886200" y="7833678"/>
            <a:ext cx="694531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4" dirty="0">
                <a:solidFill>
                  <a:srgbClr val="8A2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anger</a:t>
            </a:r>
            <a:endParaRPr lang="en-US" sz="1350" dirty="0"/>
          </a:p>
        </p:txBody>
      </p:sp>
      <p:sp>
        <p:nvSpPr>
          <p:cNvPr id="42" name="Text 38"/>
          <p:cNvSpPr/>
          <p:nvPr/>
        </p:nvSpPr>
        <p:spPr>
          <a:xfrm>
            <a:off x="7860030" y="7807007"/>
            <a:ext cx="109347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· 0.1%</a:t>
            </a:r>
            <a:endParaRPr lang="en-US" sz="1650" dirty="0"/>
          </a:p>
        </p:txBody>
      </p:sp>
      <p:sp>
        <p:nvSpPr>
          <p:cNvPr id="43" name="Shape 39"/>
          <p:cNvSpPr/>
          <p:nvPr/>
        </p:nvSpPr>
        <p:spPr>
          <a:xfrm>
            <a:off x="3448050" y="8346123"/>
            <a:ext cx="133350" cy="133350"/>
          </a:xfrm>
          <a:prstGeom prst="rect">
            <a:avLst/>
          </a:prstGeom>
          <a:solidFill>
            <a:srgbClr val="3B6FA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4" name="Shape 40"/>
          <p:cNvSpPr/>
          <p:nvPr/>
        </p:nvSpPr>
        <p:spPr>
          <a:xfrm>
            <a:off x="3752850" y="8254682"/>
            <a:ext cx="1096645" cy="316230"/>
          </a:xfrm>
          <a:prstGeom prst="roundRect">
            <a:avLst>
              <a:gd name="adj" fmla="val 50000"/>
            </a:avLst>
          </a:prstGeom>
          <a:solidFill>
            <a:srgbClr val="D9E3F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5" name="Text 41"/>
          <p:cNvSpPr/>
          <p:nvPr/>
        </p:nvSpPr>
        <p:spPr>
          <a:xfrm>
            <a:off x="3886200" y="8292782"/>
            <a:ext cx="906145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4" dirty="0">
                <a:solidFill>
                  <a:srgbClr val="1F4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sadness</a:t>
            </a:r>
            <a:endParaRPr lang="en-US" sz="1350" dirty="0"/>
          </a:p>
        </p:txBody>
      </p:sp>
      <p:sp>
        <p:nvSpPr>
          <p:cNvPr id="46" name="Text 42"/>
          <p:cNvSpPr/>
          <p:nvPr/>
        </p:nvSpPr>
        <p:spPr>
          <a:xfrm>
            <a:off x="7860030" y="8266112"/>
            <a:ext cx="109347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· 0.1%</a:t>
            </a:r>
            <a:endParaRPr lang="en-US" sz="1650" dirty="0"/>
          </a:p>
        </p:txBody>
      </p:sp>
      <p:grpSp>
        <p:nvGrpSpPr>
          <p:cNvPr id="80" name="Grupo 79">
            <a:extLst>
              <a:ext uri="{FF2B5EF4-FFF2-40B4-BE49-F238E27FC236}">
                <a16:creationId xmlns:a16="http://schemas.microsoft.com/office/drawing/2014/main" id="{A476938D-A949-7CA6-F7F4-7406991CE3D2}"/>
              </a:ext>
            </a:extLst>
          </p:cNvPr>
          <p:cNvGrpSpPr/>
          <p:nvPr/>
        </p:nvGrpSpPr>
        <p:grpSpPr>
          <a:xfrm>
            <a:off x="8625840" y="5140007"/>
            <a:ext cx="8652510" cy="1554480"/>
            <a:chOff x="8625840" y="5140007"/>
            <a:chExt cx="8652510" cy="1554480"/>
          </a:xfrm>
        </p:grpSpPr>
        <p:sp>
          <p:nvSpPr>
            <p:cNvPr id="20" name="Text 17"/>
            <p:cNvSpPr/>
            <p:nvPr/>
          </p:nvSpPr>
          <p:spPr>
            <a:xfrm>
              <a:off x="8625840" y="5140007"/>
              <a:ext cx="327660" cy="33147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650" b="1" dirty="0">
                  <a:solidFill>
                    <a:srgbClr val="1A1A1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9%</a:t>
              </a:r>
              <a:endParaRPr lang="en-US" sz="1650" dirty="0"/>
            </a:p>
          </p:txBody>
        </p:sp>
        <p:sp>
          <p:nvSpPr>
            <p:cNvPr id="72" name="Shape 68"/>
            <p:cNvSpPr/>
            <p:nvPr/>
          </p:nvSpPr>
          <p:spPr>
            <a:xfrm>
              <a:off x="9448800" y="5140007"/>
              <a:ext cx="7829550" cy="1554480"/>
            </a:xfrm>
            <a:prstGeom prst="rect">
              <a:avLst/>
            </a:prstGeom>
            <a:solidFill>
              <a:srgbClr val="1A1A1A"/>
            </a:solidFill>
            <a:ln/>
          </p:spPr>
          <p:txBody>
            <a:bodyPr/>
            <a:lstStyle/>
            <a:p>
              <a:endParaRPr lang="es-MX"/>
            </a:p>
          </p:txBody>
        </p:sp>
        <p:sp>
          <p:nvSpPr>
            <p:cNvPr id="73" name="Shape 69"/>
            <p:cNvSpPr/>
            <p:nvPr/>
          </p:nvSpPr>
          <p:spPr>
            <a:xfrm>
              <a:off x="9448800" y="5140007"/>
              <a:ext cx="38100" cy="1554480"/>
            </a:xfrm>
            <a:prstGeom prst="rect">
              <a:avLst/>
            </a:prstGeom>
            <a:solidFill>
              <a:srgbClr val="D14B3D"/>
            </a:solidFill>
            <a:ln/>
          </p:spPr>
          <p:txBody>
            <a:bodyPr/>
            <a:lstStyle/>
            <a:p>
              <a:endParaRPr lang="es-MX"/>
            </a:p>
          </p:txBody>
        </p:sp>
        <p:sp>
          <p:nvSpPr>
            <p:cNvPr id="74" name="Text 70"/>
            <p:cNvSpPr/>
            <p:nvPr/>
          </p:nvSpPr>
          <p:spPr>
            <a:xfrm>
              <a:off x="9791700" y="5406707"/>
              <a:ext cx="7397306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200" b="1" kern="0" spc="216" dirty="0">
                  <a:solidFill>
                    <a:srgbClr val="D14B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LECTURA</a:t>
              </a:r>
              <a:endParaRPr lang="en-US" sz="1200" dirty="0"/>
            </a:p>
          </p:txBody>
        </p:sp>
        <p:sp>
          <p:nvSpPr>
            <p:cNvPr id="75" name="Text 71"/>
            <p:cNvSpPr/>
            <p:nvPr/>
          </p:nvSpPr>
          <p:spPr>
            <a:xfrm>
              <a:off x="9791700" y="5734366"/>
              <a:ext cx="7397306" cy="7315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2100" i="1" dirty="0">
                  <a:solidFill>
                    <a:srgbClr val="F6F4E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La </a:t>
              </a:r>
              <a:r>
                <a:rPr lang="en-US" sz="2100" i="1" dirty="0">
                  <a:solidFill>
                    <a:srgbClr val="D14B3D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ira </a:t>
              </a:r>
              <a:r>
                <a:rPr lang="en-US" sz="2100" i="1" dirty="0">
                  <a:solidFill>
                    <a:srgbClr val="F6F4E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y la </a:t>
              </a:r>
              <a:r>
                <a:rPr lang="en-US" sz="2100" i="1" dirty="0">
                  <a:solidFill>
                    <a:srgbClr val="D14B3D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tristeza </a:t>
              </a:r>
              <a:r>
                <a:rPr lang="en-US" sz="2100" i="1" dirty="0">
                  <a:solidFill>
                    <a:srgbClr val="F6F4E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son raras — pero cuando aparecen, son las señales más accionables para escalar a la dirección.</a:t>
              </a:r>
              <a:endParaRPr lang="en-US" sz="2100" dirty="0"/>
            </a:p>
          </p:txBody>
        </p:sp>
      </p:grpSp>
      <p:sp>
        <p:nvSpPr>
          <p:cNvPr id="76" name="Text 72"/>
          <p:cNvSpPr/>
          <p:nvPr/>
        </p:nvSpPr>
        <p:spPr>
          <a:xfrm>
            <a:off x="1047750" y="9547860"/>
            <a:ext cx="275534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SENTIMIENTO &amp; TONO</a:t>
            </a:r>
            <a:endParaRPr lang="en-US" sz="1800" dirty="0"/>
          </a:p>
        </p:txBody>
      </p:sp>
      <p:sp>
        <p:nvSpPr>
          <p:cNvPr id="77" name="Text 73"/>
          <p:cNvSpPr/>
          <p:nvPr/>
        </p:nvSpPr>
        <p:spPr>
          <a:xfrm>
            <a:off x="16154717" y="9547860"/>
            <a:ext cx="1161732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05 06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C848306-1C4F-34F1-8F75-05589E787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15" y="1318678"/>
            <a:ext cx="15184969" cy="764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827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7F02A10-1E26-7495-2A98-5A25F6E0C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29" y="856652"/>
            <a:ext cx="17309341" cy="857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209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7B6586D-1779-7C85-2D65-0F9826E6A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436" y="1394889"/>
            <a:ext cx="15061127" cy="749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44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3345AFF-4ACE-0080-62B9-684542560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08" y="2309417"/>
            <a:ext cx="17433183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440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D998779-0786-8BD1-9A8F-ABCD25E2B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042" y="1018599"/>
            <a:ext cx="15165916" cy="824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77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546F179-D3EB-5C6B-985F-AEAE03F60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568" y="980494"/>
            <a:ext cx="15146864" cy="832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767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11B2524-CB58-005C-12C7-74B5E2D96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489" y="1032889"/>
            <a:ext cx="15023022" cy="822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986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80DC8F6-839C-067F-0B49-7F60E3B81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436" y="980494"/>
            <a:ext cx="15061127" cy="832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668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52500"/>
            <a:ext cx="545465" cy="461010"/>
          </a:xfrm>
          <a:prstGeom prst="roundRect">
            <a:avLst>
              <a:gd name="adj" fmla="val 4132"/>
            </a:avLst>
          </a:prstGeom>
          <a:solidFill>
            <a:srgbClr val="E8DCC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162050" y="1009650"/>
            <a:ext cx="39306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kern="0" spc="78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764665" y="1009650"/>
            <a:ext cx="30908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kern="0" spc="312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169000" y="1011555"/>
            <a:ext cx="296570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kern="0" spc="312" dirty="0">
                <a:solidFill>
                  <a:srgbClr val="D14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1832610"/>
            <a:ext cx="16089630" cy="857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996"/>
              </a:lnSpc>
              <a:buNone/>
            </a:pPr>
            <a:r>
              <a:rPr lang="en-US" sz="5700" kern="0" spc="-8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movimientos </a:t>
            </a:r>
            <a:r>
              <a:rPr lang="en-US" sz="5700" i="1" kern="0" spc="-85" dirty="0">
                <a:solidFill>
                  <a:srgbClr val="D14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accionables</a:t>
            </a:r>
            <a:endParaRPr lang="en-US" sz="5700" dirty="0"/>
          </a:p>
        </p:txBody>
      </p:sp>
      <p:sp>
        <p:nvSpPr>
          <p:cNvPr id="7" name="Shape 5"/>
          <p:cNvSpPr/>
          <p:nvPr/>
        </p:nvSpPr>
        <p:spPr>
          <a:xfrm>
            <a:off x="1047750" y="3185478"/>
            <a:ext cx="5219700" cy="4002405"/>
          </a:xfrm>
          <a:prstGeom prst="rect">
            <a:avLst/>
          </a:prstGeom>
          <a:solidFill>
            <a:srgbClr val="FBFAF6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381125" y="3556953"/>
            <a:ext cx="4689539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6900" i="1" dirty="0">
                <a:solidFill>
                  <a:srgbClr val="D14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900" dirty="0"/>
          </a:p>
        </p:txBody>
      </p:sp>
      <p:sp>
        <p:nvSpPr>
          <p:cNvPr id="9" name="Text 7"/>
          <p:cNvSpPr/>
          <p:nvPr/>
        </p:nvSpPr>
        <p:spPr>
          <a:xfrm>
            <a:off x="1381125" y="4448492"/>
            <a:ext cx="4689539" cy="410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 dedicado para </a:t>
            </a:r>
            <a:r>
              <a:rPr lang="en-US" sz="2550" i="1" dirty="0">
                <a:solidFill>
                  <a:srgbClr val="D14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facturación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381125" y="5011420"/>
            <a:ext cx="4689539" cy="1211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 del volumen son preguntas repetitivas sobre facturas, complementos y datos fiscales. Un bot específico libera tiempo comercial de las vendedoras.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81125" y="6454457"/>
            <a:ext cx="4552950" cy="9525"/>
          </a:xfrm>
          <a:prstGeom prst="rect">
            <a:avLst/>
          </a:prstGeom>
          <a:solidFill>
            <a:srgbClr val="D9D2C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1381125" y="6616382"/>
            <a:ext cx="46895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25" b="1" kern="0" spc="180" dirty="0">
                <a:solidFill>
                  <a:srgbClr val="D14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AUTOMATIZAR EL FLUJO #3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6534150" y="3185478"/>
            <a:ext cx="5219700" cy="4002405"/>
          </a:xfrm>
          <a:prstGeom prst="rect">
            <a:avLst/>
          </a:prstGeom>
          <a:solidFill>
            <a:srgbClr val="FBFAF6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867525" y="3556953"/>
            <a:ext cx="4689539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6900" i="1" dirty="0">
                <a:solidFill>
                  <a:srgbClr val="D14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900" dirty="0"/>
          </a:p>
        </p:txBody>
      </p:sp>
      <p:sp>
        <p:nvSpPr>
          <p:cNvPr id="15" name="Text 13"/>
          <p:cNvSpPr/>
          <p:nvPr/>
        </p:nvSpPr>
        <p:spPr>
          <a:xfrm>
            <a:off x="6867525" y="4448492"/>
            <a:ext cx="4689539" cy="410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Alertas por </a:t>
            </a:r>
            <a:r>
              <a:rPr lang="en-US" sz="2550" i="1" dirty="0">
                <a:solidFill>
                  <a:srgbClr val="D14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fricción detectada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6867525" y="5011420"/>
            <a:ext cx="4689539" cy="1211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pocos mensajes negativos —y especialmente los picos de ira o tristeza— tienen alto valor diagnóstico. Escalarlos a la dirección en tiempo real.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867525" y="6454457"/>
            <a:ext cx="4552950" cy="9525"/>
          </a:xfrm>
          <a:prstGeom prst="rect">
            <a:avLst/>
          </a:prstGeom>
          <a:solidFill>
            <a:srgbClr val="D9D2C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867525" y="6616382"/>
            <a:ext cx="46895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25" b="1" kern="0" spc="180" dirty="0">
                <a:solidFill>
                  <a:srgbClr val="D14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WEBHOOK AL DASHBOARD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12020550" y="3185478"/>
            <a:ext cx="5219700" cy="4002405"/>
          </a:xfrm>
          <a:prstGeom prst="rect">
            <a:avLst/>
          </a:prstGeom>
          <a:solidFill>
            <a:srgbClr val="FBFAF6"/>
          </a:solidFill>
          <a:ln w="9525">
            <a:solidFill>
              <a:srgbClr val="D9D2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12353925" y="3556953"/>
            <a:ext cx="4689539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6900" i="1" dirty="0">
                <a:solidFill>
                  <a:srgbClr val="D14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900" dirty="0"/>
          </a:p>
        </p:txBody>
      </p:sp>
      <p:sp>
        <p:nvSpPr>
          <p:cNvPr id="21" name="Text 19"/>
          <p:cNvSpPr/>
          <p:nvPr/>
        </p:nvSpPr>
        <p:spPr>
          <a:xfrm>
            <a:off x="12353925" y="4448492"/>
            <a:ext cx="4689539" cy="782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como </a:t>
            </a:r>
            <a:r>
              <a:rPr lang="en-US" sz="2550" i="1" dirty="0">
                <a:solidFill>
                  <a:srgbClr val="D14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monitoreo continuo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2353925" y="5383848"/>
            <a:ext cx="4689539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 del análisis puntual a la revisión semanal. Metodología documentada, replicable a otras PyMEs B2B que operan sobre WhatsApp.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2353925" y="6454457"/>
            <a:ext cx="4552950" cy="9525"/>
          </a:xfrm>
          <a:prstGeom prst="rect">
            <a:avLst/>
          </a:prstGeom>
          <a:solidFill>
            <a:srgbClr val="D9D2C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12353925" y="6616382"/>
            <a:ext cx="46895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25" b="1" kern="0" spc="180" dirty="0">
                <a:solidFill>
                  <a:srgbClr val="D14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TAREA PROGRAMADA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1047750" y="7721282"/>
            <a:ext cx="16192500" cy="190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1047750" y="8045132"/>
            <a:ext cx="32439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Gracias. ¿Preguntas?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2838588" y="8210867"/>
            <a:ext cx="4533711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kern="0" spc="243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CÉSAR VILLARREAL HERNÁNDEZ · 707560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47750" y="9547860"/>
            <a:ext cx="452341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PRÓXIMOS PASOS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145510" y="9547860"/>
            <a:ext cx="11709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44" dirty="0">
                <a:solidFill>
                  <a:srgbClr val="8A8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06 06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1586</Words>
  <Application>Microsoft Office PowerPoint</Application>
  <PresentationFormat>Personalizado</PresentationFormat>
  <Paragraphs>175</Paragraphs>
  <Slides>18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Courier New</vt:lpstr>
      <vt:lpstr>Georgia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VILLARREAL HERNANDEZ, CESAR</cp:lastModifiedBy>
  <cp:revision>12</cp:revision>
  <dcterms:created xsi:type="dcterms:W3CDTF">2026-05-12T04:49:26Z</dcterms:created>
  <dcterms:modified xsi:type="dcterms:W3CDTF">2026-05-14T02:40:39Z</dcterms:modified>
</cp:coreProperties>
</file>